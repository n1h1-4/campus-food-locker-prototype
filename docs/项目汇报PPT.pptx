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3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前置偏移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U 结项与经验总结</c:v>
                </c:pt>
                <c:pt idx="1">
                  <c:v>S 效果评估与KPI复盘</c:v>
                </c:pt>
                <c:pt idx="2">
                  <c:v>Q 全点位上线与首周运营</c:v>
                </c:pt>
                <c:pt idx="3">
                  <c:v>O 问题整改与验收测试</c:v>
                </c:pt>
                <c:pt idx="4">
                  <c:v>N 单点位试运行</c:v>
                </c:pt>
                <c:pt idx="5">
                  <c:v>K 系统集成与联调</c:v>
                </c:pt>
                <c:pt idx="6">
                  <c:v>I 柜体生产与出厂检验</c:v>
                </c:pt>
                <c:pt idx="7">
                  <c:v>H 招采与供应商签约</c:v>
                </c:pt>
                <c:pt idx="8">
                  <c:v>E 点位选址与场地报批</c:v>
                </c:pt>
                <c:pt idx="9">
                  <c:v>C 项目范围与WBS确认</c:v>
                </c:pt>
                <c:pt idx="10">
                  <c:v>B 可行性研究与立项审批</c:v>
                </c:pt>
                <c:pt idx="11">
                  <c:v>A 需求调研与点位勘察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</c:v>
                </c:pt>
                <c:pt idx="1">
                  <c:v>106</c:v>
                </c:pt>
                <c:pt idx="2">
                  <c:v>99</c:v>
                </c:pt>
                <c:pt idx="3">
                  <c:v>93</c:v>
                </c:pt>
                <c:pt idx="4">
                  <c:v>85</c:v>
                </c:pt>
                <c:pt idx="5">
                  <c:v>73</c:v>
                </c:pt>
                <c:pt idx="6">
                  <c:v>48</c:v>
                </c:pt>
                <c:pt idx="7">
                  <c:v>38</c:v>
                </c:pt>
                <c:pt idx="8">
                  <c:v>23</c:v>
                </c:pt>
                <c:pt idx="9">
                  <c:v>18</c:v>
                </c:pt>
                <c:pt idx="10">
                  <c:v>10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C1-4271-BC5D-4AE9DF4A1D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 工期</c:v>
                </c:pt>
              </c:strCache>
            </c:strRef>
          </c:tx>
          <c:spPr>
            <a:solidFill>
              <a:srgbClr val="E4572E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U 结项与经验总结</c:v>
                </c:pt>
                <c:pt idx="1">
                  <c:v>S 效果评估与KPI复盘</c:v>
                </c:pt>
                <c:pt idx="2">
                  <c:v>Q 全点位上线与首周运营</c:v>
                </c:pt>
                <c:pt idx="3">
                  <c:v>O 问题整改与验收测试</c:v>
                </c:pt>
                <c:pt idx="4">
                  <c:v>N 单点位试运行</c:v>
                </c:pt>
                <c:pt idx="5">
                  <c:v>K 系统集成与联调</c:v>
                </c:pt>
                <c:pt idx="6">
                  <c:v>I 柜体生产与出厂检验</c:v>
                </c:pt>
                <c:pt idx="7">
                  <c:v>H 招采与供应商签约</c:v>
                </c:pt>
                <c:pt idx="8">
                  <c:v>E 点位选址与场地报批</c:v>
                </c:pt>
                <c:pt idx="9">
                  <c:v>C 项目范围与WBS确认</c:v>
                </c:pt>
                <c:pt idx="10">
                  <c:v>B 可行性研究与立项审批</c:v>
                </c:pt>
                <c:pt idx="11">
                  <c:v>A 需求调研与点位勘察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  <c:pt idx="6">
                  <c:v>25</c:v>
                </c:pt>
                <c:pt idx="7">
                  <c:v>10</c:v>
                </c:pt>
                <c:pt idx="8">
                  <c:v>15</c:v>
                </c:pt>
                <c:pt idx="9">
                  <c:v>5</c:v>
                </c:pt>
                <c:pt idx="10">
                  <c:v>8</c:v>
                </c:pt>
                <c:pt idx="11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6C1-4271-BC5D-4AE9DF4A1D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D2DC"/>
            </a:solidFill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"/>
          <c:min val="0"/>
        </c:scaling>
        <c:delete val="0"/>
        <c:axPos val="b"/>
        <c:majorGridlines>
          <c:spPr>
            <a:ln>
              <a:solidFill>
                <a:srgbClr val="E4E9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zh-CN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100"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按期完成概率</c:v>
                </c:pt>
              </c:strCache>
            </c:strRef>
          </c:tx>
          <c:spPr>
            <a:ln w="28575">
              <a:solidFill>
                <a:srgbClr val="0F2A44"/>
              </a:solidFill>
            </a:ln>
          </c:spPr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/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114</c:v>
                </c:pt>
                <c:pt idx="1">
                  <c:v>120</c:v>
                </c:pt>
                <c:pt idx="2">
                  <c:v>122</c:v>
                </c:pt>
                <c:pt idx="3">
                  <c:v>125</c:v>
                </c:pt>
                <c:pt idx="4">
                  <c:v>126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7.44</c:v>
                </c:pt>
                <c:pt idx="1">
                  <c:v>50</c:v>
                </c:pt>
                <c:pt idx="2">
                  <c:v>68.48</c:v>
                </c:pt>
                <c:pt idx="3">
                  <c:v>88.55</c:v>
                </c:pt>
                <c:pt idx="4">
                  <c:v>92.56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CC-499D-8E6A-B9FF1DB44EF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4E9EF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zh-CN"/>
          </a:p>
        </c:txPr>
        <c:crossAx val="2118791784"/>
        <c:crosses val="autoZero"/>
        <c:crossBetween val="between"/>
        <c:majorUnit val="20"/>
      </c:valAx>
    </c:plotArea>
    <c:plotVisOnly val="1"/>
    <c:dispBlanksAs val="gap"/>
    <c:showDLblsOverMax val="0"/>
  </c:chart>
  <c:txPr>
    <a:bodyPr/>
    <a:lstStyle/>
    <a:p>
      <a:pPr>
        <a:defRPr sz="1050">
          <a:latin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金额（元）</c:v>
                </c:pt>
              </c:strCache>
            </c:strRef>
          </c:tx>
          <c:spPr>
            <a:solidFill>
              <a:srgbClr val="1B7F79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柜体格口</c:v>
                </c:pt>
                <c:pt idx="1">
                  <c:v>直接人工</c:v>
                </c:pt>
                <c:pt idx="2">
                  <c:v>主控屏</c:v>
                </c:pt>
                <c:pt idx="3">
                  <c:v>间接费</c:v>
                </c:pt>
                <c:pt idx="4">
                  <c:v>保温改造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612000</c:v>
                </c:pt>
                <c:pt idx="1">
                  <c:v>200552</c:v>
                </c:pt>
                <c:pt idx="2">
                  <c:v>129200</c:v>
                </c:pt>
                <c:pt idx="3">
                  <c:v>101900</c:v>
                </c:pt>
                <c:pt idx="4">
                  <c:v>88400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C21-4C01-8200-800946216C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50">
          <a:latin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占总投比例</c:v>
                </c:pt>
              </c:strCache>
            </c:strRef>
          </c:tx>
          <c:spPr>
            <a:solidFill>
              <a:srgbClr val="0F2A44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/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设备与材料 829,600</c:v>
                </c:pt>
                <c:pt idx="1">
                  <c:v>直接人工 200,552</c:v>
                </c:pt>
                <c:pt idx="2">
                  <c:v>间接费与不可预见 165,588</c:v>
                </c:pt>
                <c:pt idx="3">
                  <c:v>系统与技术 125,000</c:v>
                </c:pt>
                <c:pt idx="4">
                  <c:v>施工与安装 94,800</c:v>
                </c:pt>
                <c:pt idx="5">
                  <c:v>培训保险标识 23,800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57.6</c:v>
                </c:pt>
                <c:pt idx="1">
                  <c:v>13.9</c:v>
                </c:pt>
                <c:pt idx="2">
                  <c:v>11.5</c:v>
                </c:pt>
                <c:pt idx="3">
                  <c:v>8.6999999999999993</c:v>
                </c:pt>
                <c:pt idx="4">
                  <c:v>6.6</c:v>
                </c:pt>
                <c:pt idx="5">
                  <c:v>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520-43A4-88A4-D4325AACFC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8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latin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1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开场：核心矛盾是校园末端配送'人—人'交接无节点、无凭证、无数据。重点讲第 10–12 页的定量结论。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四个断点对应四个需求：时效、准入、凭证、温度。假设值必须口头说明来源。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六个数字一次讲完：6 点位、34 组、1,360 格口、15,000 人、114 工作日、143.93 万元。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需求四要素直接推导出 P1–P6 的选址与柜型；两个 KPI 是自设目标值，需试运行校准。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四维各一句话。政策维度主动说“审批周期是硬约束”，为第 15 页的 E 风险埋伏笔。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这一页是本课程的核心图：一级 5 阶段 → 二级 20 项活动（A–U，与 p9/p10 的活动编号同源）→ 三级 57 个工作包（1.1.1 形态，逐条取自计划书表 4-3）。指图讲三点：①三级编码第三位就是工作包，能落到人；②橙色竖条 12 项是关键活动，与 p10 关键路径完全对应；③第 3 列（采购与建设实施）条目最多（6 个活动 19 个工作包），是资源最密集的阶段。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安装 3 人对应 H/I/L/M，开发 2 人对应 F/J/K。质验独立，保证 O 阶段客观。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矩阵读法：右上和右下的决策权最大。E 活动的 15 天预警就是给后勤处这条线设的。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指图讲：主链 A-B-C-E-H-I-K-N-O-Q-S-U 是橙色一条直线；蓝色“汇”标记都是汇聚点，也是多路并行的风险交汇处。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两条：关键路径首尾相接、零浮动；T 的 TF=1 不在关键路径上——TF=1 意味着一旦延误超过 1 天就会变成新的关键路径。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本页是亮点。一句话：114 天是“最可能情况”，不是“按期概率”。按 114 天承诺，成功概率 7.44%，等于提前宣布延期。所以承诺 122 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成本全部取自任务书第六节（含决策 D9 补入的第 12 项“点位标识牌与指引立牌 800 元”，12 项明细相加 = 1,273,752，与小计加平）。若被问明细口径，按“小计 × 8% = 101,900、× 5% = 63,688，合计 1,439,340 元”回答。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这一页回答“成本分析”而不是“成本清单”：①结构——设备与材料占 57.6%；②盈亏平衡——日投柜 650 单/日、使用率 15.48% 即不亏，计划 2,310 单/日，安全边际 71.9%；③敏感性——使用率与骑手单价 ±10% 让回收期 ±0.5 年，格口采购价只 ±0.18 年，所以运营重点在提使用率、守单价。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原型不是重点，闭环才是。三端读同一笔订单，所以数据自洽：柜口占用、取餐时间、超时费都来自同一个 store。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三句话：收入 69.84 万、成本 30 万、净现金流 39.84 万，回收期 3.61 年。三个假设值当场说明。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个人工作与 AI 说明要念出来：数据全部来自任务书，本人复核；复核中定位出 800 元明细差额并补入“点位标识牌与指引立牌”一项，使 12 项明细加平至小计 1,273,752。结论层面给出成本分析三个量化结论：结构 57.6% 在设备、盈亏平衡 650 单/日、敏感性 ±0.5 年 vs ±0.18 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个人工作与 AI 说明要念出来：数据全部来自任务书，本人复核；复核中定位出 800 元明细差额并补入“点位标识牌与指引立牌”一项，使 12 项明细加平至 1,273,752。成本分析三个量化结论：结构 57.6% 在设备、盈亏平衡 650 单/日（15.48%）、敏感性 ±0.5 年 vs ±0.18 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收尾三个数字回扣全场：7.44%（不能按 114 天承诺）、68.48%（承诺 122 天）、3.61 年（回收期）。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>
                <a:solidFill>
                  <a:srgbClr val="9FB6CB"/>
                </a:solidFill>
                <a:latin typeface="微软雅黑"/>
                <a:ea typeface="微软雅黑"/>
                <a:cs typeface="微软雅黑"/>
              </a:rPr>
              <a:t>《物流项目管理》课程设计 ｜ 项目汇报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694944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哈尔滨商业大学北校区</a:t>
            </a:r>
            <a:endParaRPr sz="40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/>
            <a:r>
              <a:rPr sz="40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校园智能外卖柜末端配送体系</a:t>
            </a:r>
            <a:endParaRPr sz="40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/>
            <a:r>
              <a:rPr sz="40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建设项目</a:t>
            </a:r>
            <a:endParaRPr sz="40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6112" y="4041648"/>
            <a:ext cx="192024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261104"/>
            <a:ext cx="6858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D6E2EE"/>
                </a:solidFill>
                <a:latin typeface="微软雅黑"/>
                <a:ea typeface="微软雅黑"/>
                <a:cs typeface="微软雅黑"/>
              </a:rPr>
              <a:t>6 个点位 ／ 34 组柜体 ／ 1,360 个格口 ／ 15,000 名师生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D6E2EE"/>
                </a:solidFill>
                <a:latin typeface="微软雅黑"/>
                <a:ea typeface="微软雅黑"/>
                <a:cs typeface="微软雅黑"/>
              </a:rPr>
              <a:t>计划工期 114 个工作日 ｜ 概算总投资 143.93 万元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12080"/>
            <a:ext cx="694944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</a:t>
            </a:r>
            <a:r>
              <a:rPr sz="1600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16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陈德安</a:t>
            </a:r>
            <a:endParaRPr lang="en-US" altLang="zh-CN" sz="160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/>
            <a:r>
              <a:rPr sz="1600" b="0" dirty="0" err="1">
                <a:solidFill>
                  <a:srgbClr val="9FB6CB"/>
                </a:solidFill>
                <a:latin typeface="微软雅黑"/>
                <a:ea typeface="微软雅黑"/>
                <a:cs typeface="微软雅黑"/>
              </a:rPr>
              <a:t>课程：物流项目管理</a:t>
            </a:r>
            <a:endParaRPr sz="1600" b="0" dirty="0">
              <a:solidFill>
                <a:srgbClr val="9FB6C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49640" y="219456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  <a:p>
            <a:pPr algn="l">
              <a:spcBef>
                <a:spcPts val="1000"/>
              </a:spcBef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 · 概况 · 可行性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范围 · 组织 · 干系人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网络计划 · 关键路径 · PERT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 · 原型 · 效益 · 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选题背景：校园末端配送的四个断点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问题不是“送到没有”，而是“最后一 100 米”没人管、没凭证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2615184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2615184" cy="5486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783080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01  堆放与撒漏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2249424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楼门口、花坛边临时堆放，雨雪天撒漏；餐品错拿后无从追责。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615184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15184" cy="5486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783080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02  骑手入校受限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240280"/>
            <a:ext cx="2249424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电动车不进楼，骑手只能在校门或楼下等人交接，单均时长被拉长。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572768"/>
            <a:ext cx="2615184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056" y="1572768"/>
            <a:ext cx="2615184" cy="5486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1783080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03  纠纷无法追溯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240280"/>
            <a:ext cx="2249424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没有交接节点与时间戳，丢餐、超时只能“自认倒霉”。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572768"/>
            <a:ext cx="2615184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1572768"/>
            <a:ext cx="2615184" cy="5486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1783080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04  冬季低温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240280"/>
            <a:ext cx="2249424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哈尔滨 3 月仍低温，室外等待取餐体验差，餐品温度不达标。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96512"/>
            <a:ext cx="11045952" cy="8686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096512"/>
            <a:ext cx="64008" cy="86868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233672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需求规模：</a:t>
            </a: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在校师生 15,000 人（校方公开数据）｜日均外卖约 4,200 单（渗透率 28%，</a:t>
            </a:r>
            <a:r>
              <a:rPr sz="18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假设值</a:t>
            </a:r>
            <a:r>
              <a:rPr sz="18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，待 ≥150 份问卷确认）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138928"/>
            <a:ext cx="11045952" cy="1097280"/>
          </a:xfrm>
          <a:prstGeom prst="roundRect">
            <a:avLst>
              <a:gd name="adj" fmla="val 5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321808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解决思路：把“人—人”交接升级为“人—柜—人”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有节点（6 个点位覆盖三区动线）、有凭证（取餐码 + 时间戳）、有数据（占用率与周转率可测）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项目概况：一页看全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哈尔滨市松北区学海街 1 号 ｜ A/B/C 三区 ｜ 校园坐标 126.562773,45.816937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36192"/>
            <a:ext cx="17373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54864" cy="13258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1655064"/>
            <a:ext cx="1463039" cy="11064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6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点位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P1–P6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8646" y="1536192"/>
            <a:ext cx="17373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28646" y="1536192"/>
            <a:ext cx="54864" cy="13258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2382" y="1655064"/>
            <a:ext cx="1463039" cy="11064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34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组柜体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超大/大/小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0364" y="1536192"/>
            <a:ext cx="17373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0364" y="1536192"/>
            <a:ext cx="54864" cy="132588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4100" y="1655064"/>
            <a:ext cx="1463039" cy="11064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1,360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格口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40 格/组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2083" y="1536192"/>
            <a:ext cx="17373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083" y="1536192"/>
            <a:ext cx="54864" cy="13258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5819" y="1655064"/>
            <a:ext cx="1463039" cy="11064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15,000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在校师生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3801" y="1536192"/>
            <a:ext cx="17373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13801" y="1536192"/>
            <a:ext cx="54864" cy="13258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7537" y="1655064"/>
            <a:ext cx="1463039" cy="11064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114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工作日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2026-03-02 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19" y="1536192"/>
            <a:ext cx="17373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75519" y="1536192"/>
            <a:ext cx="54864" cy="132588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49255" y="1655064"/>
            <a:ext cx="1463039" cy="11064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143.93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万元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1,439,340 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072384"/>
            <a:ext cx="5477256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321868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P1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2278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A区图书馆北门广场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7056" y="3264408"/>
            <a:ext cx="20391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超大 12组/480格口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3072384"/>
            <a:ext cx="5477256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81928" y="3218688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P2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8856" y="32278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A区14公寓与A区食堂之间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3264408"/>
            <a:ext cx="20391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大 6组/240格口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749039"/>
            <a:ext cx="5477256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" y="3895344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P3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3904487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B区1–2公寓与B区食堂之间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77056" y="3941063"/>
            <a:ext cx="20391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大 6组/240格口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35624" y="3749039"/>
            <a:ext cx="5477256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81928" y="3895344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P4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8856" y="3904487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C区5–6公寓与C区食堂之间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3941063"/>
            <a:ext cx="20391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大 6组/240格口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425696"/>
            <a:ext cx="5477256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457200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P5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58114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A区教学主楼／大课室门厅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77056" y="4617720"/>
            <a:ext cx="20391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小 2组/80格口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35624" y="4425696"/>
            <a:ext cx="5477256" cy="585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81928" y="4572000"/>
            <a:ext cx="548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P6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8856" y="458114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B区食品工程学院实验楼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2" y="4617720"/>
            <a:ext cx="203911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小 2组/80格口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413248"/>
            <a:ext cx="1104595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单组柜体 = 1 主柜（16 格）+ 1 副柜（24 格）= 40 格口；A 区承载教学＋住宿约 9,000 人，故 P1 配超大柜型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建设内容 = 柜机组网 + 骑手／用户／运营三端系统 + 运营流程；计划工期 2026-03-02 至 2026-08-07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需求分析与建设目标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需求来自问卷与六点位现场勘察；目标全部可量化、可考核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36192"/>
            <a:ext cx="539496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需求要素（做什么）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· 交接节点：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15 分钟步行可达 → 定 P1–P6 选址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23744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· 凭证化：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取餐码 + 时间戳，可追溯到格口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79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· 温区：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保温／加热分区覆盖 340 格口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28415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· 时效：</a:t>
            </a: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高峰 30 分钟内完成投柜取餐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36192"/>
            <a:ext cx="5394960" cy="2240280"/>
          </a:xfrm>
          <a:prstGeom prst="roundRect">
            <a:avLst>
              <a:gd name="adj" fmla="val 5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691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建设目标（做到什么程度）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121408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F2C0AE"/>
                </a:solidFill>
                <a:latin typeface="微软雅黑"/>
                <a:ea typeface="微软雅黑"/>
                <a:cs typeface="微软雅黑"/>
              </a:rPr>
              <a:t>· 日投柜 2,310 单  </a:t>
            </a:r>
            <a:r>
              <a:rPr sz="13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4,200 × 55%（假设值）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23744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F2C0AE"/>
                </a:solidFill>
                <a:latin typeface="微软雅黑"/>
                <a:ea typeface="微软雅黑"/>
                <a:cs typeface="微软雅黑"/>
              </a:rPr>
              <a:t>· 开柜成功率 ≥ 99%  </a:t>
            </a:r>
            <a:r>
              <a:rPr sz="13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集成联调 K 验收口径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926079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F2C0AE"/>
                </a:solidFill>
                <a:latin typeface="微软雅黑"/>
                <a:ea typeface="微软雅黑"/>
                <a:cs typeface="微软雅黑"/>
              </a:rPr>
              <a:t>· 丢餐率 ≤ 0.1%  </a:t>
            </a:r>
            <a:r>
              <a:rPr sz="13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凭证化 + 工单闭环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328415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F2C0AE"/>
                </a:solidFill>
                <a:latin typeface="微软雅黑"/>
                <a:ea typeface="微软雅黑"/>
                <a:cs typeface="微软雅黑"/>
              </a:rPr>
              <a:t>· 静态回收期 3.61 年  </a:t>
            </a:r>
            <a:r>
              <a:rPr sz="13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年净现金流 398,400 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886200"/>
            <a:ext cx="1104595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上两项指标为项目自设目标值（任务书未给基线），需在单点位试运行 N 阶段校准后固化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70832"/>
            <a:ext cx="2084831" cy="8686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范围确认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8097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ES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4" y="455371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43784" y="4370832"/>
            <a:ext cx="2084831" cy="8686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71800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方案设计 D–G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097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ES 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55371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4370832"/>
            <a:ext cx="2084831" cy="8686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48656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建设实施 H–M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8656" y="48097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ES 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455371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97496" y="4370832"/>
            <a:ext cx="2084831" cy="8686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25512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测试上线 N–Q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48097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ES 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455371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74352" y="4370832"/>
            <a:ext cx="2084831" cy="8686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02368" y="449884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收尾评价 S–U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8" y="480974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ES 106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440680"/>
            <a:ext cx="1104595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目标区间：2026-03-02 启动 → 网络计划计算 114 工作日（2026-08-07）→ 建议承诺 122 工作日（2026-08-19，按期概率 68.48%）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可行性分析：政策 / 技术 / 经济 / 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四维均可行，但政策维度的审批周期是本项目的硬约束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36192"/>
            <a:ext cx="54406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64008" cy="2212848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1664207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政策可行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031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末端配送与校园食品安全方向有明确政策支持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63347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需后勤处场地审批，周期直接决定 E 活动工期（M=15 天）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16382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食品接触材料标准（GB 4806 系列）名称待核对补充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36192"/>
            <a:ext cx="54406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536192"/>
            <a:ext cx="64008" cy="221284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6" y="1664207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031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34 组柜体 + 4G 模组 + 平台 SaaS 均为成熟产品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63347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三端系统可用本地网页＋localStorage 先做原型验证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16382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保温／加热分区改造 340 格口，工程量可控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931920"/>
            <a:ext cx="54406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931920"/>
            <a:ext cx="64008" cy="22128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4059935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经济可行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49884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概算总投资 143.93 万元，年净现金流 39.84 万元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0292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静态回收期 3.61 年，课程设计周期内可自洽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55955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收入端：骑手侧 0.80 元/单 + 广告 14.4 万元/年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931920"/>
            <a:ext cx="544068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3931920"/>
            <a:ext cx="64008" cy="2212848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6" y="4059935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C88A1E"/>
                </a:solidFill>
                <a:latin typeface="微软雅黑"/>
                <a:ea typeface="微软雅黑"/>
                <a:cs typeface="微软雅黑"/>
              </a:rPr>
              <a:t>组织可行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449884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11 人 7 角色小团队，峰值并行 11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50292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项目经理统筹，后勤／保卫处联合审批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555955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校方是单一决策方，沟通链短、决策快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项目范围与 WBS（三级结构）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一级 5 个阶段 ／ 二级 20 项活动（A–U）／ 三级 57 个工作包（编码 1.1.1 起），同源于计划书表 4-3 与任务书 §三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44752"/>
            <a:ext cx="2121408" cy="455371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" y="1444752"/>
            <a:ext cx="2121408" cy="384048"/>
          </a:xfrm>
          <a:prstGeom prst="roundRect">
            <a:avLst>
              <a:gd name="adj" fmla="val 12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36192"/>
            <a:ext cx="197510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1  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项目启动与规划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1892807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879092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1.1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865376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需求调研与现状诊断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071116"/>
            <a:ext cx="10972" cy="338328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14198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06380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06014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师生问卷与外卖单量调研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32943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2512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2247595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六点位现场勘察与痛点分析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455164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2441448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1.2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427732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可行性研究与立项审批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633472"/>
            <a:ext cx="10972" cy="52578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70433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2626156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1.2.1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2622499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政策与标准合规分析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2891790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281360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1.2.2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2809951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柜体技术方案比选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07924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300106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1.2.3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299740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经济可行性测算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" y="3204972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191256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1.3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3177540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项目范围与WBS确认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383280"/>
            <a:ext cx="10972" cy="338328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5800" y="3454146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3375964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1.3.1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3372307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范围说明书（含不做清单）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64159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8952" y="3563416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1.3.2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3559759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WBS 与责任分配矩阵确认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98064" y="1444752"/>
            <a:ext cx="2121408" cy="455371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798064" y="1444752"/>
            <a:ext cx="2121408" cy="384048"/>
          </a:xfrm>
          <a:prstGeom prst="roundRect">
            <a:avLst>
              <a:gd name="adj" fmla="val 12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89504" y="1536192"/>
            <a:ext cx="197510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2  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方案设计与报批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43784" y="1892807"/>
            <a:ext cx="27432" cy="132588"/>
          </a:xfrm>
          <a:prstGeom prst="rect">
            <a:avLst/>
          </a:prstGeom>
          <a:solidFill>
            <a:srgbClr val="B6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89504" y="1879092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2.1 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0128" y="1865376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柜体选型与技术方案设计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16936" y="2071116"/>
            <a:ext cx="10972" cy="52578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916936" y="214198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990088" y="206380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2.1.1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0128" y="206014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柜型与格口配置表编制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16936" y="232943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90088" y="22512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2.1.2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0128" y="2247595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温控与加热分区方案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16936" y="2516886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990088" y="2438704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2.1.3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0128" y="2435047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结构与防寒图纸评审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43784" y="2642616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89504" y="2628900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2.2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10128" y="2615184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点位选址与场地报批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16936" y="2820924"/>
            <a:ext cx="10972" cy="713231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916936" y="2891790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90088" y="281360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2.2.1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10128" y="2809951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六点位定位与用地红线核对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16936" y="307924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990088" y="300106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2.2.2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0128" y="299740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后勤处场地使用报批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16936" y="326669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990088" y="318851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2.2.3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10128" y="3184855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保卫处消防通道与用电会签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16936" y="3454146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990088" y="3375964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2.2.4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10128" y="3372307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电力增容与接入方案确认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43784" y="3579876"/>
            <a:ext cx="27432" cy="132588"/>
          </a:xfrm>
          <a:prstGeom prst="rect">
            <a:avLst/>
          </a:prstGeom>
          <a:solidFill>
            <a:srgbClr val="B6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89504" y="3566160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2.3 F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10128" y="3552444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系统需求分析与原型设计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16936" y="3758184"/>
            <a:ext cx="10972" cy="52578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916936" y="3829050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990088" y="375086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2.3.1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3747211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三端功能需求清单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16936" y="401650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990088" y="393832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2.3.2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0128" y="393466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交互原型与数据模型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916936" y="420395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990088" y="412577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2.3.3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10128" y="4122115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需求评审与基线冻结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43784" y="4329684"/>
            <a:ext cx="27432" cy="132588"/>
          </a:xfrm>
          <a:prstGeom prst="rect">
            <a:avLst/>
          </a:prstGeom>
          <a:solidFill>
            <a:srgbClr val="B6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889504" y="4315968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2.4 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10128" y="4302252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运营流程与骑手协同方案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16936" y="4507992"/>
            <a:ext cx="10972" cy="52578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916936" y="457885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990088" y="4500676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2.4.1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10128" y="4497019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骑手投柜作业流程设计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16936" y="4766310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990088" y="468812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2.4.2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10128" y="4684471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超时与丢餐处置规则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16936" y="495376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990088" y="487558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2.4.3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10128" y="487192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平台对接与结算口径约定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29200" y="1444752"/>
            <a:ext cx="2121408" cy="455371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5029200" y="1444752"/>
            <a:ext cx="2121408" cy="384048"/>
          </a:xfrm>
          <a:prstGeom prst="roundRect">
            <a:avLst>
              <a:gd name="adj" fmla="val 12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120640" y="1536192"/>
            <a:ext cx="197510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3  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采购与建设实施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4920" y="1892807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120640" y="1879092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3.1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41264" y="1865376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招采与供应商签约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48072" y="2071116"/>
            <a:ext cx="10972" cy="43843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5148072" y="2127423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221224" y="206380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3.1.1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41264" y="2060143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询价与技术标评审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148072" y="2285759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221224" y="2222136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3.1.2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41264" y="2218478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合同与履约条款谈判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148072" y="244409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221224" y="2380471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3.1.3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541264" y="2376814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供应商进场计划确认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74920" y="2555266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120640" y="2541550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3.2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I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41264" y="2527834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柜体生产与出厂检验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148072" y="2733574"/>
            <a:ext cx="10972" cy="43843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148072" y="278988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221224" y="2726259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3.2.1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541264" y="2722601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首批排产与物料齐套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48072" y="294821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221224" y="2884595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3.2.2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41264" y="2880937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两批次生产（分包并行）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148072" y="3106553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5221224" y="304293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3.2.3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541264" y="3039273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出厂检验与合格证归档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074920" y="3217725"/>
            <a:ext cx="27432" cy="132588"/>
          </a:xfrm>
          <a:prstGeom prst="rect">
            <a:avLst/>
          </a:prstGeom>
          <a:solidFill>
            <a:srgbClr val="B6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120640" y="3204009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3.3 J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41264" y="3190293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平台软件开发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148072" y="3396033"/>
            <a:ext cx="10972" cy="596766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5148072" y="3452341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221224" y="338871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3.3.1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41264" y="3385060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骑手端开发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148072" y="3610676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221224" y="3547053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3.3.2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541264" y="3543396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用户端开发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148072" y="376901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221224" y="3705389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3.3.3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541264" y="3701731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运营后台与看板开发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148072" y="392734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221224" y="3863725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3.3.4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41264" y="3860067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数据接口与联调准备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74920" y="4038519"/>
            <a:ext cx="27432" cy="132588"/>
          </a:xfrm>
          <a:prstGeom prst="rect">
            <a:avLst/>
          </a:prstGeom>
          <a:solidFill>
            <a:srgbClr val="B6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120640" y="4024803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3.4 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41264" y="4011087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场地施工与电力接入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148072" y="4216827"/>
            <a:ext cx="10972" cy="43843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5148072" y="4273135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5221224" y="420951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3.4.1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541264" y="4205854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基础浇筑与预埋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148072" y="4431471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221224" y="436784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3.4.2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41264" y="4364190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电力接入与配电箱安装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148072" y="4589806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221224" y="4526183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3.4.3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541264" y="4522526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点位围挡与场地恢复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074920" y="4700978"/>
            <a:ext cx="27432" cy="132588"/>
          </a:xfrm>
          <a:prstGeom prst="rect">
            <a:avLst/>
          </a:prstGeom>
          <a:solidFill>
            <a:srgbClr val="B6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5120640" y="4687262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3.5 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541264" y="4673546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柜体运输与安装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148072" y="4879286"/>
            <a:ext cx="10972" cy="43843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5148072" y="493559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5221224" y="4871971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3.5.1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41264" y="4868313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运输与到场验收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148072" y="5093929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5221224" y="5030306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3.5.2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541264" y="5026649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34 组柜体安装与找平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148072" y="5252265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5221224" y="518864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3.5.3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541264" y="5184984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通电自检与逐格测试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074920" y="5363437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120640" y="5349721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3.6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K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541264" y="5336005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系统集成与联调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148072" y="5541745"/>
            <a:ext cx="10972" cy="43843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5148072" y="5598053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5221224" y="553443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3.6.1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541264" y="5530772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柜控与平台联调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148072" y="575638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5221224" y="5692765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3.6.2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541264" y="5689108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支付与结算联调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148072" y="591472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5221224" y="5851101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3.6.3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541264" y="5847443"/>
            <a:ext cx="1572767" cy="1491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压力与异常场景测试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7260336" y="1444752"/>
            <a:ext cx="2121408" cy="455371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7260336" y="1444752"/>
            <a:ext cx="2121408" cy="384048"/>
          </a:xfrm>
          <a:prstGeom prst="roundRect">
            <a:avLst>
              <a:gd name="adj" fmla="val 12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7351776" y="1536192"/>
            <a:ext cx="197510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4  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测试与上线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306056" y="1892807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7351776" y="1879092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4.1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N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772400" y="1865376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单点位试运行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379208" y="2071116"/>
            <a:ext cx="10972" cy="52578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7379208" y="214198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7452360" y="206380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4.1.1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72400" y="206014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P1 点位试运行排班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379208" y="232943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7452360" y="22512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4.1.2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772400" y="2247595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数据采集与问题清单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379208" y="2516886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7452360" y="2438704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4.1.3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772400" y="2435047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试运行小结评审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306056" y="2642616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7351776" y="2628900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4.2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O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772400" y="2615184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问题整改与验收测试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379208" y="2820924"/>
            <a:ext cx="10972" cy="52578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379208" y="2891790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452360" y="281360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4.2.1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772400" y="2809951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缺陷分级与整改闭环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379208" y="307924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7452360" y="300106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4.2.2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772400" y="299740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验收测试用例执行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379208" y="326669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7452360" y="318851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4.2.3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772400" y="3184855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验收报告与签认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7306056" y="3392424"/>
            <a:ext cx="27432" cy="132588"/>
          </a:xfrm>
          <a:prstGeom prst="rect">
            <a:avLst/>
          </a:prstGeom>
          <a:solidFill>
            <a:srgbClr val="B6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7351776" y="3378708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4.3 P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772400" y="3364992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运营团队培训与制度发布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379208" y="3570732"/>
            <a:ext cx="10972" cy="52578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7379208" y="364159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7452360" y="3563416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4.3.1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772400" y="3559759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运维与客服培训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379208" y="3829050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7452360" y="375086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4.3.2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772400" y="3747211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应急预案与值守制度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7379208" y="401650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7452360" y="393832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4.3.3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772400" y="393466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用户指引与标识发布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306056" y="4142232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7351776" y="4128516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4.4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Q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772400" y="4114800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全点位上线与首周运营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379208" y="4320540"/>
            <a:ext cx="10972" cy="525780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7379208" y="4391406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7452360" y="4313224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4.4.1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772400" y="4309567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六点位分批上线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379208" y="457885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7452360" y="4500676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4.4.2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772400" y="4497019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首周现场值守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379208" y="4766310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7452360" y="468812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4.4.3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772400" y="4684471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首周运营日报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9491472" y="1444752"/>
            <a:ext cx="2121408" cy="455371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ounded Rectangle 242"/>
          <p:cNvSpPr/>
          <p:nvPr/>
        </p:nvSpPr>
        <p:spPr>
          <a:xfrm>
            <a:off x="9491472" y="1444752"/>
            <a:ext cx="2121408" cy="384048"/>
          </a:xfrm>
          <a:prstGeom prst="roundRect">
            <a:avLst>
              <a:gd name="adj" fmla="val 12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9582911" y="1536192"/>
            <a:ext cx="197510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5  </a:t>
            </a: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收尾与评价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537192" y="1892807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582911" y="1879092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5.1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003536" y="1865376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效果评估与KPI复盘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610344" y="2071116"/>
            <a:ext cx="10972" cy="338328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9610344" y="2141982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9683496" y="2063800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5.1.1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003536" y="2060143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KPI 数据汇总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610344" y="232943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683496" y="225125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5.1.2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003536" y="2247595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与目标值对标分析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9537192" y="2455164"/>
            <a:ext cx="27432" cy="132588"/>
          </a:xfrm>
          <a:prstGeom prst="rect">
            <a:avLst/>
          </a:prstGeom>
          <a:solidFill>
            <a:srgbClr val="B6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9582911" y="2441448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5.2 T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0003536" y="2427732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项目验收与文档交付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9610344" y="2633472"/>
            <a:ext cx="10972" cy="338328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9610344" y="2704338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9683496" y="2626156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5.2.1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003536" y="2622499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竣工资料整编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610344" y="2891790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9683496" y="2813608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5.2.2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0003536" y="2809951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校方验收与移交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9537192" y="3017520"/>
            <a:ext cx="27432" cy="13258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9582911" y="3003804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5.3</a:t>
            </a:r>
            <a:r>
              <a:rPr sz="8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 U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003536" y="2990088"/>
            <a:ext cx="15544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结项与经验总结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9610344" y="3195828"/>
            <a:ext cx="10972" cy="338328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9610344" y="3266694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9683496" y="3188512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5.3.1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0003536" y="3184855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结项报告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9610344" y="3454146"/>
            <a:ext cx="68580" cy="9144"/>
          </a:xfrm>
          <a:prstGeom prst="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9683496" y="3375964"/>
            <a:ext cx="310896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5.3.2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003536" y="3372307"/>
            <a:ext cx="1572767" cy="178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经验教训库归档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66928" y="6071616"/>
            <a:ext cx="110459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一级 5 阶段 ｜ 二级 20 项活动（A–U）｜ 三级 57 个工作包</a:t>
            </a:r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　　编码 1.1.1–5.3.2 同源计划书表 4-3；橙条 = 关键活动、灰条 = 非关键；编号与 p9/p10/p12 同源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组织结构与责任分配（11 人 / 7 角色）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峰值并行 11 人；直接人工 4,348 工时 / 200,552 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481328"/>
            <a:ext cx="2926080" cy="658368"/>
          </a:xfrm>
          <a:prstGeom prst="roundRect">
            <a:avLst>
              <a:gd name="adj" fmla="val 5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项目经理  1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1965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804 h ／ 56,280 元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139696"/>
            <a:ext cx="0" cy="256032"/>
          </a:xfrm>
          <a:prstGeom prst="line">
            <a:avLst/>
          </a:prstGeom>
          <a:ln w="15875">
            <a:solidFill>
              <a:srgbClr val="0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51560" y="2395728"/>
            <a:ext cx="10058400" cy="1828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1435607" y="2395728"/>
            <a:ext cx="0" cy="274320"/>
          </a:xfrm>
          <a:prstGeom prst="line">
            <a:avLst/>
          </a:prstGeom>
          <a:ln w="15875">
            <a:solidFill>
              <a:srgbClr val="0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2670048"/>
            <a:ext cx="1737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276148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项目助理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246120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1 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502152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408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12463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12,240 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77209" y="2395728"/>
            <a:ext cx="0" cy="274320"/>
          </a:xfrm>
          <a:prstGeom prst="line">
            <a:avLst/>
          </a:prstGeom>
          <a:ln w="15875">
            <a:solidFill>
              <a:srgbClr val="0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408529" y="2670048"/>
            <a:ext cx="1737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18257" y="276148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系统开发工程师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8257" y="3246120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2 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8257" y="3502152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1,136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8257" y="3712463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59,072 元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18811" y="2395728"/>
            <a:ext cx="0" cy="274320"/>
          </a:xfrm>
          <a:prstGeom prst="line">
            <a:avLst/>
          </a:prstGeom>
          <a:ln w="15875">
            <a:solidFill>
              <a:srgbClr val="0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50131" y="2670048"/>
            <a:ext cx="1737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9859" y="276148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前端／测试工程师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9859" y="3246120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1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9859" y="3502152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416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9859" y="3712463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16,640 元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60412" y="2395728"/>
            <a:ext cx="0" cy="274320"/>
          </a:xfrm>
          <a:prstGeom prst="line">
            <a:avLst/>
          </a:prstGeom>
          <a:ln w="15875">
            <a:solidFill>
              <a:srgbClr val="0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091732" y="2670048"/>
            <a:ext cx="1737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01460" y="276148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运营专员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1460" y="3246120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2 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1460" y="3502152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424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1460" y="3712463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12,720 元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02014" y="2395728"/>
            <a:ext cx="0" cy="274320"/>
          </a:xfrm>
          <a:prstGeom prst="line">
            <a:avLst/>
          </a:prstGeom>
          <a:ln w="15875">
            <a:solidFill>
              <a:srgbClr val="0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933334" y="2670048"/>
            <a:ext cx="1737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3062" y="276148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质量与验收专员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3062" y="3246120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1 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3062" y="3502152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560 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3062" y="3712463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19,600 元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643615" y="2395728"/>
            <a:ext cx="0" cy="274320"/>
          </a:xfrm>
          <a:prstGeom prst="line">
            <a:avLst/>
          </a:prstGeom>
          <a:ln w="15875">
            <a:solidFill>
              <a:srgbClr val="0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774935" y="2670048"/>
            <a:ext cx="1737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84663" y="2761488"/>
            <a:ext cx="15361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现场安装工程师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84663" y="3246120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3 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84663" y="3502152"/>
            <a:ext cx="15361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600 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84663" y="3712463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24,000 元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16052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3232" y="427939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总投入工时 4,348 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462686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峰值并行 11 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06824" y="416052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53128" y="427939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人工成本 200,552 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53128" y="462686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按角色单价加权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160520"/>
            <a:ext cx="3566160" cy="96012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93024" y="427939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7 个角色 / 20 项活动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3024" y="462686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责任分配到人（RACI）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5285232"/>
            <a:ext cx="1104595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责任分配要点：I / L / M 由现场安装工程师（3 人）主责；J / K 由系统开发工程师（2 人）主责；E 报批由项目经理＋助理对口后勤处；质量与验收专员独立于实施线，直接向项目经理报告。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干系人分析：权力—利益矩阵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校方是单一决策方，但审批权集中在后勤处与保卫处两个部门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36192"/>
            <a:ext cx="5257800" cy="2240280"/>
          </a:xfrm>
          <a:prstGeom prst="roundRect">
            <a:avLst>
              <a:gd name="adj" fmla="val 5000"/>
            </a:avLst>
          </a:prstGeom>
          <a:solidFill>
            <a:srgbClr val="FDF0EB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664207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高权力 · 高利益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682495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重点管理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2139696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2128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后勤管理处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651760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27249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保卫处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36192"/>
            <a:ext cx="5257800" cy="22402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1664207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高权力 · 低利益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1682495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令其满意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2139696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65976" y="22128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校主管领导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6248" y="2651760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65976" y="27249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财务处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877056"/>
            <a:ext cx="5257800" cy="224028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40050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低权力 · 高利益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0233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随时告知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" y="4480560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45537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学生 15,000 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992624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" y="50657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外卖骑手与平台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" y="5504688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" y="55778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柜体供应商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877056"/>
            <a:ext cx="5257800" cy="224028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56248" y="40050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低权力 · 低利益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40233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监督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56248" y="4480560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B6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65976" y="45537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校内商户／物业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56248" y="4992624"/>
            <a:ext cx="3200400" cy="4206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B6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65976" y="50657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校内媒体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053328"/>
            <a:ext cx="1104595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沟通策略：</a:t>
            </a: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后勤处／保卫处每两周专题会（E 活动报批专项）；学生用试点问卷与公众号公示；供应商按合同节点验收。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活动清单与网络计划（20 项活动 A–U）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计算工期 114 个工作日；橙=关键活动（TF=0），灰=非关键活动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16352" y="1828800"/>
            <a:ext cx="928116" cy="77724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16352" y="2606040"/>
            <a:ext cx="928116" cy="77724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16352" y="2606040"/>
            <a:ext cx="928116" cy="155448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4468" y="1828800"/>
            <a:ext cx="928115" cy="36576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44468" y="3383280"/>
            <a:ext cx="928115" cy="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72583" y="2194560"/>
            <a:ext cx="928116" cy="132588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00699" y="2194560"/>
            <a:ext cx="928117" cy="173736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672583" y="2651760"/>
            <a:ext cx="1856233" cy="73152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600699" y="3520440"/>
            <a:ext cx="928117" cy="41148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44468" y="4160520"/>
            <a:ext cx="3712463" cy="32004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28816" y="2651760"/>
            <a:ext cx="928115" cy="182880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13164" y="3520440"/>
            <a:ext cx="928116" cy="457199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41280" y="3474720"/>
            <a:ext cx="928116" cy="502919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28816" y="2926080"/>
            <a:ext cx="928115" cy="1005840"/>
          </a:xfrm>
          <a:prstGeom prst="line">
            <a:avLst/>
          </a:prstGeom>
          <a:ln w="12700">
            <a:solidFill>
              <a:srgbClr val="B6C2C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60120" y="2606040"/>
            <a:ext cx="928116" cy="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88236" y="2606040"/>
            <a:ext cx="928116" cy="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816352" y="2606040"/>
            <a:ext cx="928116" cy="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744468" y="2194560"/>
            <a:ext cx="928115" cy="41148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72583" y="2194560"/>
            <a:ext cx="928116" cy="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00699" y="2194560"/>
            <a:ext cx="928117" cy="45720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28816" y="2651760"/>
            <a:ext cx="928115" cy="27432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56931" y="2926080"/>
            <a:ext cx="928117" cy="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85048" y="2926080"/>
            <a:ext cx="928116" cy="59436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313164" y="3017520"/>
            <a:ext cx="928116" cy="50292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41280" y="3017520"/>
            <a:ext cx="928116" cy="457200"/>
          </a:xfrm>
          <a:prstGeom prst="line">
            <a:avLst/>
          </a:prstGeom>
          <a:ln w="25400">
            <a:solidFill>
              <a:srgbClr val="E4572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8" y="230428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237286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264718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86484" y="230428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86484" y="237286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6484" y="264718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14600" y="230428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14600" y="237286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264718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42715" y="152704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9AA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42715" y="159562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42715" y="186994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42715" y="230428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42715" y="237286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42715" y="264718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2715" y="308152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9AA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42715" y="315010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42715" y="342442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42715" y="385876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9AA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42715" y="392734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42715" y="420166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70831" y="1892807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70831" y="196138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70831" y="223570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8" name="Oval 57"/>
          <p:cNvSpPr/>
          <p:nvPr/>
        </p:nvSpPr>
        <p:spPr>
          <a:xfrm>
            <a:off x="4828031" y="1755648"/>
            <a:ext cx="256032" cy="25603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28031" y="1801367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70831" y="308152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9AA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70831" y="315010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0831" y="342442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298947" y="1892807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98947" y="196138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98947" y="223570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298947" y="321868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9AA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98947" y="328726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98947" y="356158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27064" y="235000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27064" y="241858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27064" y="269290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2" name="Oval 71"/>
          <p:cNvSpPr/>
          <p:nvPr/>
        </p:nvSpPr>
        <p:spPr>
          <a:xfrm>
            <a:off x="6684264" y="2212848"/>
            <a:ext cx="256032" cy="25603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684264" y="225856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27064" y="363016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9AA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27064" y="369874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27064" y="397306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7" name="Oval 76"/>
          <p:cNvSpPr/>
          <p:nvPr/>
        </p:nvSpPr>
        <p:spPr>
          <a:xfrm>
            <a:off x="6684264" y="3493008"/>
            <a:ext cx="256032" cy="25603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84264" y="3538727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155179" y="262432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155179" y="269290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55179" y="296722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82" name="Oval 81"/>
          <p:cNvSpPr/>
          <p:nvPr/>
        </p:nvSpPr>
        <p:spPr>
          <a:xfrm>
            <a:off x="7612379" y="2487168"/>
            <a:ext cx="256032" cy="25603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612379" y="253288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155179" y="417880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9AA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155179" y="424738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55179" y="452170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083296" y="262432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083296" y="269290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83296" y="296722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011412" y="321868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11412" y="328726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11412" y="356158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93" name="Oval 92"/>
          <p:cNvSpPr/>
          <p:nvPr/>
        </p:nvSpPr>
        <p:spPr>
          <a:xfrm>
            <a:off x="9468612" y="3081528"/>
            <a:ext cx="256032" cy="25603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468612" y="312724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39528" y="271576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939528" y="278434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39528" y="305866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939528" y="3675887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9AAA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939528" y="374446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39528" y="4018787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867644" y="3172968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572E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867644" y="3241548"/>
            <a:ext cx="603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67644" y="3515868"/>
            <a:ext cx="603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>
                <a:solidFill>
                  <a:srgbClr val="FFE4D9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4" name="Oval 103"/>
          <p:cNvSpPr/>
          <p:nvPr/>
        </p:nvSpPr>
        <p:spPr>
          <a:xfrm>
            <a:off x="11324844" y="3035808"/>
            <a:ext cx="256032" cy="25603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1324844" y="3081527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" y="4974336"/>
            <a:ext cx="1104595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数字 = 最可能工期 M（工作日）｜ 汇 = 汇聚点 ｜ 箭头方向即紧前关系；发散点：C 分出 D/E/F/G，H 分出 I/L，I 分出 K/M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66928" y="5230368"/>
            <a:ext cx="3566160" cy="1115568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31520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发散点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1520" y="5614416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C → D / E / F / G
H → I / L        I → K / M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306824" y="5230368"/>
            <a:ext cx="3566160" cy="1115568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71416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汇聚点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71416" y="5614416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H（D+E）  K（I+J）  M（I+L）
N（K+M）  Q（O+P）  U（S+T）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046720" y="5230368"/>
            <a:ext cx="3566160" cy="1115568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211312" y="5321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网络参数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11312" y="5614416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20 项活动 ｜ 计算工期 114 工作日
关键活动 12 项（TF=0）；T 的 TF=1、M 的 TF=2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关键路径：A→B→C→E→H→I→K→N→O→Q→S→U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12 项关键活动首尾相接，总时差全为 0，任一延误即等量推迟竣工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536192"/>
          <a:ext cx="726948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33872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横轴 = 日历工作日（0–120）；每根橙条 = 该活动从 ES 到 EF 的占用区间（第 12 根条结束于 114）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536192"/>
            <a:ext cx="3639312" cy="1170432"/>
          </a:xfrm>
          <a:prstGeom prst="roundRect">
            <a:avLst>
              <a:gd name="adj" fmla="val 5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6276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04825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个工作日（2026-03-02 → 08-07）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34086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= 12 项关键活动 M 工期之和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2871216"/>
            <a:ext cx="3639312" cy="969264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2926080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零浮动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36976"/>
            <a:ext cx="33101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12 项关键活动 TF = 0，无任何机动时间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3913632"/>
            <a:ext cx="3639312" cy="969264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3968496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两处隐形风险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279392"/>
            <a:ext cx="33101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M 柜体运输与安装 TF 仅 2 天；T 项目验收 TF 仅 1 天，且 T 不在关键路径上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4956048"/>
            <a:ext cx="3639312" cy="969264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501091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可压缩点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321808"/>
            <a:ext cx="33101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I（25 天，可分包两批并行）、E（15 天，提前介入后勤处）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PERT 三时估计：按 114 天承诺 = 必延期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TE = 120.00 工作日，σ² = 17.2778，σ = 4.157；用 O/M/P 三点估计，不是单一工期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72768"/>
          <a:ext cx="64465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承诺工期 T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=（T−TE）/σ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按期完成概率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−1.4435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7.44%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网络计划计算工期，不可作为承诺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50.00%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等于期望工期，仅五成把握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122</a:t>
                      </a:r>
                    </a:p>
                  </a:txBody>
                  <a:tcPr marL="64008" marR="64008" marT="9144" marB="9144" anchor="ctr">
                    <a:solidFill>
                      <a:srgbClr val="FD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0.4812</a:t>
                      </a:r>
                    </a:p>
                  </a:txBody>
                  <a:tcPr marL="64008" marR="64008" marT="9144" marB="9144" anchor="ctr">
                    <a:solidFill>
                      <a:srgbClr val="FD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68.48%</a:t>
                      </a:r>
                    </a:p>
                  </a:txBody>
                  <a:tcPr marL="64008" marR="64008" marT="9144" marB="9144" anchor="ctr">
                    <a:solidFill>
                      <a:srgbClr val="FD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建议承诺工期，与教学日历匹配</a:t>
                      </a:r>
                    </a:p>
                  </a:txBody>
                  <a:tcPr marL="64008" marR="64008" marT="9144" marB="9144" anchor="ctr">
                    <a:solidFill>
                      <a:srgbClr val="FD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125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1.2029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88.55%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较稳妥，约九成把握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126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1.4435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92.56%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保守承诺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498848"/>
            <a:ext cx="6446520" cy="1298448"/>
          </a:xfrm>
          <a:prstGeom prst="roundRect">
            <a:avLst>
              <a:gd name="adj" fmla="val 5000"/>
            </a:avLst>
          </a:prstGeom>
          <a:solidFill>
            <a:srgbClr val="FDF0EB"/>
          </a:solidFill>
          <a:ln w="95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4590288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7.44%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645152"/>
            <a:ext cx="39776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按 114 个工作日承诺的按期概率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5074920"/>
            <a:ext cx="379476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Z =（114−120）/ 4.157 = −1.4435，正态分布左侧仅 7.44%，相当于“十次里九次延期”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269480" y="1517904"/>
          <a:ext cx="437083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269480" y="4389120"/>
            <a:ext cx="43708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横轴 = 承诺工期（工作日）｜纵轴 = 按期完成概率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681728"/>
            <a:ext cx="4370832" cy="1115568"/>
          </a:xfrm>
          <a:prstGeom prst="roundRect">
            <a:avLst>
              <a:gd name="adj" fmla="val 5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477316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建议承诺 122 个工作日（2026-08-19）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5102352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68.48% 把握 + 与教学日历匹配；对策：I 分包两批并行、E 提前介入并设 15 天预警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成本概算：总投资 1,439,340 元（12 项明细）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直接人工 4,348 工时 / 200,552 元；间接费 8%＋不可预见费 5%；结构占比、盈亏平衡与敏感性见下页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06640" y="1481328"/>
          <a:ext cx="4224528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06640" y="3986784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金额最大的 5 个科目（元）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261104"/>
            <a:ext cx="42245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直接人工 200,552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572000"/>
            <a:ext cx="42245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4,348 工时、峰值 11 人、7 个角色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919472"/>
            <a:ext cx="42245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柜体格口 612,000 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230368"/>
            <a:ext cx="42245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1,360 格口 × 450 元，设备类主体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577840"/>
            <a:ext cx="42245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概算总投资 1,439,340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888736"/>
            <a:ext cx="42245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＝ 小计 1,273,752 ＋ 101,900 ＋ 63,688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1517904"/>
          <a:ext cx="6720840" cy="44768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费用科目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计算过程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直接人工成本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4,348 h，角色单价加权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200,552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柜体格口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1,360 格口 × 450 元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612,000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主控屏与工控模块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 组 × 3,800 元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129,200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保温／加热分区改造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340 格口 × 260 元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88,400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运输与安装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 组 × 1,200 元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40,800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场地施工与电力接入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点位 × 9,000 元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54,000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 SaaS 首年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点位账号打包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68,000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小程序与后台定制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一次性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45,000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通信与云资源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 组 4G + 云主机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培训与推广物料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点位地推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15,000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设备与公众责任保险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保额 300 万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点位标识牌与指引立牌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点位打包（二维码立牌 + 指引贴）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小计（1–12）</a:t>
                      </a:r>
                    </a:p>
                  </a:txBody>
                  <a:tcPr marL="64008" marR="64008" marT="9144" marB="9144"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1,273,752</a:t>
                      </a:r>
                    </a:p>
                  </a:txBody>
                  <a:tcPr marL="64008" marR="64008" marT="9144" marB="9144" anchor="ctr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项目管理间接费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 × 8%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101,900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不可预见费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 × 5%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63,688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概算总投资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1,439,340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成本分析：结构占比 · 盈亏平衡 · 敏感性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881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口径 = 概算 1,439,340 元；结论：回收期对使用率与骑手单价最敏感（±10% ≈ ±0.5 年），对格口采购单价最不敏感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30352" y="1481328"/>
          <a:ext cx="5577840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913632"/>
            <a:ext cx="5532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成本结构（占概算总投资比例，元）｜设备与材料占 57.6%，是本项目最大成本块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481328"/>
            <a:ext cx="5340096" cy="2432304"/>
          </a:xfrm>
          <a:prstGeom prst="roundRect">
            <a:avLst>
              <a:gd name="adj" fmla="val 5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910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F2C0AE"/>
                </a:solidFill>
                <a:latin typeface="微软雅黑"/>
                <a:ea typeface="微软雅黑"/>
                <a:cs typeface="微软雅黑"/>
              </a:rPr>
              <a:t>盈亏平衡分析（经营口径：年净现金流 = 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65376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9339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单/日（盈亏平衡）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957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日投柜量 =（300,000 − 144,000）÷（0.80 × 300）= 156,000 ÷ 240 = 650 单/日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700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对应使用率 = 650 ÷ 4,200 =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15.48%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62656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计划 2,310 单/日（55%），安全边际 =（2,310−650）÷2,310 =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71.9%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346704"/>
            <a:ext cx="4892040" cy="457200"/>
          </a:xfrm>
          <a:prstGeom prst="roundRect">
            <a:avLst>
              <a:gd name="adj" fmla="val 5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3419856"/>
            <a:ext cx="47091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使用率 ≥ 15.5% 年度经营现金流即为正；盈亏平衡点远低于计划值，抗风险能力强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4133087"/>
          <a:ext cx="78181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情景</a:t>
                      </a:r>
                    </a:p>
                  </a:txBody>
                  <a:tcPr marL="54864" marR="54864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投资（元）</a:t>
                      </a:r>
                    </a:p>
                  </a:txBody>
                  <a:tcPr marL="54864" marR="54864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年净现金流（元）</a:t>
                      </a:r>
                    </a:p>
                  </a:txBody>
                  <a:tcPr marL="54864" marR="54864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静态回收期（年）</a:t>
                      </a:r>
                    </a:p>
                  </a:txBody>
                  <a:tcPr marL="54864" marR="54864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较基准变化</a:t>
                      </a:r>
                    </a:p>
                  </a:txBody>
                  <a:tcPr marL="54864" marR="54864" marT="9144" marB="9144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基准（55%、0.80 元/单、450 元/格口）</a:t>
                      </a:r>
                    </a:p>
                  </a:txBody>
                  <a:tcPr marL="54864" marR="54864" marT="9144" marB="9144"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1,439,340</a:t>
                      </a:r>
                    </a:p>
                  </a:txBody>
                  <a:tcPr marL="54864" marR="54864" marT="9144" marB="9144"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398,400</a:t>
                      </a:r>
                    </a:p>
                  </a:txBody>
                  <a:tcPr marL="54864" marR="54864" marT="9144" marB="9144"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3.61</a:t>
                      </a:r>
                    </a:p>
                  </a:txBody>
                  <a:tcPr marL="54864" marR="54864" marT="9144" marB="9144"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2A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使用率 −10%（49.5%）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1,439,340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342,960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+0.59 年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使用率 +10%（60.5%）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1,439,340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453,840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−0.44 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骑手单价 −10%（0.72 元）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1,439,340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342,960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457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+0.59 年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骑手单价 +10%（0.88 元）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1,439,340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453,840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−0.44 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格口单价 −10%（405 元）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1,370,184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398,400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−0.17 年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格口单价 +10%（495 元）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1,508,496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398,400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+0.18 年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66928" y="6108192"/>
            <a:ext cx="78181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单因素敏感性：每次只变一个参数，其余不变；±10% 情景对照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58784" y="4133087"/>
            <a:ext cx="3054096" cy="2212848"/>
          </a:xfrm>
          <a:prstGeom prst="roundRect">
            <a:avLst>
              <a:gd name="adj" fmla="val 5000"/>
            </a:avLst>
          </a:prstGeom>
          <a:solidFill>
            <a:srgbClr val="FDF0EB"/>
          </a:solidFill>
          <a:ln w="95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23376" y="4242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敏感度结论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376" y="4535424"/>
            <a:ext cx="276148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最敏感：使用率、骑手单价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±10% → 回收期 ±0.5 年左右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3376" y="5175504"/>
            <a:ext cx="276148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最不敏感：格口采购单价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±10% → 仅 ±0.18 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5742432"/>
            <a:ext cx="2761488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→ 运营重点：提使用率、守单价；压采购价收益有限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原型演示：三端功能与业务流程闭环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本地网页实现，三端共用一份 data/store.js 模拟数据，localStorage 持久化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36192"/>
            <a:ext cx="3401568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401568" cy="566928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62763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骑手端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6824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67712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选择点位（P1–P6）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85292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按柜型／温区推荐格口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38144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扫码开柜 → 投柜成功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02336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生成取餐码并写入订单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536192"/>
            <a:ext cx="3401568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B7F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1536192"/>
            <a:ext cx="3401568" cy="566928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162763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6824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取餐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267712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输入取餐码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85292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显示点位／柜号／格口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438144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开柜取餐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02336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超时提醒与超时费计算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2" y="1536192"/>
            <a:ext cx="3401568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11312" y="1536192"/>
            <a:ext cx="3401568" cy="56692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162763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运营后台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1592" y="16824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267712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点位看板：占用率／周转率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5292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超时预警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438144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故障工单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23360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KPI 报表（日／周）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296265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3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296265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3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956048"/>
            <a:ext cx="11045952" cy="1261872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" y="5065776"/>
            <a:ext cx="106984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闭环逻辑（同一笔订单在三端之间的流转）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5413248"/>
            <a:ext cx="106070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骑手选点位 → 写格口占用 → 生成取餐码 ｜ 用户凭码开柜 → 释放格口并回写取餐时间 ｜ 后台汇总出占用率／周转率／超时工单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编号一致性：点位 P1–P6 与柜型取自任务书第二节；40 格/组的计数规则与成本科目 2（1,360 格口 × 450 元）同源。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效益分析：年净现金流 398,400 元，回收期 3.61 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收入结构 = 骑手侧投柜费 + 点位广告；成本为运维／电费／维保／平台续费口径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17904"/>
          <a:ext cx="6126480" cy="2882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273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取值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依据／口径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在校师生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15,000 人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校方公开数据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日均外卖单量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4,200 单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渗透率 28%，假设值（待问卷确认）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柜机使用率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假设值（待试运行校准）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2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柜机日投柜量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2,310 单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4,200 × 55%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骑手侧收费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0.80 元/单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同类产品市场价（假设值）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2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年有效运营天数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 天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扣除寒暑假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年广告收入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144,000 元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点位 × 2,000 元/月 × 12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526280"/>
            <a:ext cx="6126480" cy="1691640"/>
          </a:xfrm>
          <a:prstGeom prst="roundRect">
            <a:avLst>
              <a:gd name="adj" fmla="val 5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4608576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>
                <a:solidFill>
                  <a:srgbClr val="F2C0AE"/>
                </a:solidFill>
                <a:latin typeface="微软雅黑"/>
                <a:ea typeface="微软雅黑"/>
                <a:cs typeface="微软雅黑"/>
              </a:rPr>
              <a:t>静态投资回收期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90118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3.61 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440680"/>
            <a:ext cx="57150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= 概算总投资 1,439,340 元 ÷ 年净现金流 398,400 元 = 3.61 年（静态，未折现）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1517904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22592" y="1645919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698,400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084831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年收入合计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395728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投柜收入 554,400 + 广告 144,000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08592" y="1517904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54896" y="1645919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300,000 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084831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年运营成本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395728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运维 12 万 + 电费 3.6 万 + 维保 8 万 + 平台续费 6.8 万 + 其他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6288" y="3867911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DF0EB"/>
          </a:solidFill>
          <a:ln w="95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22592" y="3995927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398,400 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4434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年净现金流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745736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698,400 − 300,000 = 398,400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8592" y="3867911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54896" y="3995927"/>
            <a:ext cx="20116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3.61 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4434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静态回收期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4745736"/>
            <a:ext cx="19751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1,439,340 ÷ 398,400 = 3.61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质量管理与风险应对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头号风险是 E 场地报批；次风险是 M 柜体安装只有 2 天总时差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54480"/>
            <a:ext cx="2670048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664207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开柜成功率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2024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≥ 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860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集成联调 K 的验收口径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670048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1664207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格口温控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192024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340 格口保温／加热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2860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冬季餐品温度达标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52928"/>
            <a:ext cx="2670048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9626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丢餐率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218688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≤ 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844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凭证化交接 + 工单闭环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852928"/>
            <a:ext cx="2670048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9584" y="296265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周转与巡检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218688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5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占用率／周转率日报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35844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后台看板 + 7×24 告警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187952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质量指标为项目自设目标值，需 N 阶段试运行校准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382512" y="1554480"/>
          <a:ext cx="5230368" cy="2622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083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风险事件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等级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应对措施</a:t>
                      </a:r>
                    </a:p>
                  </a:txBody>
                  <a:tcPr marL="64008" marR="64008" marT="9144" marB="9144"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0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 场地报批延误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提前介入后勤处；设 15 天预警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0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 柜体生产延期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分包两批并行生产，缩短 25 天占用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0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 仅 2 天总时差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L 施工滚动衔接，每日跟踪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0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冬季低温施工调试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月前完成室内预装，保温分区同批</a:t>
                      </a:r>
                    </a:p>
                  </a:txBody>
                  <a:tcPr marL="64008" marR="64008" marT="9144" marB="9144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0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骑手协同不足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上线前签合作协议 + 骑手培训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382512" y="4718304"/>
            <a:ext cx="5230368" cy="1517904"/>
          </a:xfrm>
          <a:prstGeom prst="roundRect">
            <a:avLst>
              <a:gd name="adj" fmla="val 5000"/>
            </a:avLst>
          </a:prstGeom>
          <a:solidFill>
            <a:srgbClr val="FDF0EB"/>
          </a:solidFill>
          <a:ln w="95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479145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为什么 E 是头号风险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5120640"/>
            <a:ext cx="489204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E 在关键路径上、TF=0，且 15 天工期由校方审批节奏决定而非人力投入——不可用人手压缩，只能提前介入；一旦延误 15 天，122 天承诺的缓冲即被吃光。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718304"/>
            <a:ext cx="5577840" cy="1517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风险登记册共 5 条，按“概率 × 影响”排序。两条高风险（E、I）都在关键路径上，因此风险应对与进度压缩是同一件事：I 分包并行用于抢工期，E 的 15 天预警用于早发现。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68580" cy="42062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0233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结论与个人工作说明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9264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三个结论 + AI 使用与修改说明（可核查）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1045952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哈尔滨商业大学北校区智能外卖柜末端配送体系建设项目 ｜ 物流项目管理课程设计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00" b="0">
                <a:solidFill>
                  <a:srgbClr val="5B6B7F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54480"/>
            <a:ext cx="62636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54480"/>
            <a:ext cx="64008" cy="132588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655064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1B7F79"/>
                </a:solidFill>
                <a:latin typeface="微软雅黑"/>
                <a:ea typeface="微软雅黑"/>
                <a:cs typeface="微软雅黑"/>
              </a:rPr>
              <a:t>结论一 · 规模与投资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011680"/>
            <a:ext cx="5897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6 点位 / 34 组 / 1,360 格口覆盖三区动线，概算总投资 143.93 万元；盈亏平衡仅需 650 单/日（使用率 15.48%），安全边际 71.9%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99232"/>
            <a:ext cx="62636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2999232"/>
            <a:ext cx="64008" cy="132588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099816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结论二 · 工期不能按计算值承诺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456432"/>
            <a:ext cx="5897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网络计划 114 工作日只是最可能情况；按 114 天承诺按期概率仅 7.44%，应承诺 122 个工作日（68.48%）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43984"/>
            <a:ext cx="62636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443984"/>
            <a:ext cx="64008" cy="132588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4544568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结论三 · 风险集中在两处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901184"/>
            <a:ext cx="5897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50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E 场地报批（TF=0、15 天）与 M 柜体安装（TF=2 天）是全部风险的落点，应对与抢工是同一件事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9168" y="1554480"/>
            <a:ext cx="4553712" cy="420624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0336" y="1682496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微软雅黑"/>
                <a:ea typeface="微软雅黑"/>
                <a:cs typeface="微软雅黑"/>
              </a:rPr>
              <a:t>个人工作说明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201168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本人负责：网络计划与 PERT 计算、成本模型、三端原型、汇报材料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1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· 数据源：全部数字取自《项目任务书 v1》，未另算一套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0336" y="3218688"/>
            <a:ext cx="4151376" cy="18288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0336" y="332841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AI 使用与修改说明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3639312"/>
            <a:ext cx="4224528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0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① 用途：AI 协助网络计划计算脚本、成本模型代码、原型代码与幻灯排版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10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② 核验：关键路径、20 项 TF、PERT 的 TE／σ、金额合计与盈亏平衡／敏感性均由本人逐项复核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10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③ 修正：复核发现明细合计与小计差 800 元，已定位并补入“点位标识牌与指引立牌 800 元”明细，修正后明细加平、合计不变</a:t>
            </a:r>
          </a:p>
          <a:p>
            <a:pPr algn="l">
              <a:lnSpc>
                <a:spcPct val="128000"/>
              </a:lnSpc>
              <a:spcBef>
                <a:spcPts val="400"/>
              </a:spcBef>
            </a:pPr>
            <a:r>
              <a:rPr sz="1050" b="0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④ 假设值：渗透率 28%、使用率 55%、0.80 元/单均已标注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感谢聆听 ｜ 恳请指正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2331720"/>
            <a:ext cx="1920240" cy="4572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57860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>
                <a:solidFill>
                  <a:srgbClr val="F2C0AE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401568"/>
            <a:ext cx="3429000" cy="1234440"/>
          </a:xfrm>
          <a:prstGeom prst="roundRect">
            <a:avLst>
              <a:gd name="adj" fmla="val 5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35295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114 → 7.44%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968496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按计算工期承诺等于必延期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401568"/>
            <a:ext cx="3429000" cy="1234440"/>
          </a:xfrm>
          <a:prstGeom prst="roundRect">
            <a:avLst>
              <a:gd name="adj" fmla="val 5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3168" y="35295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122 → 68.48%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968496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建议承诺工期 2026-08-19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401568"/>
            <a:ext cx="3429000" cy="1234440"/>
          </a:xfrm>
          <a:prstGeom prst="roundRect">
            <a:avLst>
              <a:gd name="adj" fmla="val 5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35295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3.61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968496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9D8E6"/>
                </a:solidFill>
                <a:latin typeface="微软雅黑"/>
                <a:ea typeface="微软雅黑"/>
                <a:cs typeface="微软雅黑"/>
              </a:rPr>
              <a:t>静态回收期（1,439,340 ÷ 398,400）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哈尔滨商业大学北校区校园智能外卖柜末端配送体系建设项目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9FB6CB"/>
                </a:solidFill>
                <a:latin typeface="微软雅黑"/>
                <a:ea typeface="微软雅黑"/>
                <a:cs typeface="微软雅黑"/>
              </a:rPr>
              <a:t>6 个点位 ｜ 34 组柜体 ｜ 1,360 个格口 ｜ 15,000 名师生 ｜ 143.93 万元 ｜ 数据源：《项目任务书 v1》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3004</Words>
  <Application>Microsoft Office PowerPoint</Application>
  <PresentationFormat>宽屏</PresentationFormat>
  <Paragraphs>740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de'an chen</cp:lastModifiedBy>
  <cp:revision>2</cp:revision>
  <dcterms:created xsi:type="dcterms:W3CDTF">2013-01-27T09:14:16Z</dcterms:created>
  <dcterms:modified xsi:type="dcterms:W3CDTF">2026-10-27T15:50:19Z</dcterms:modified>
  <cp:category/>
</cp:coreProperties>
</file>